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548640"/>
            <a:ext cx="43891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latin typeface="Calibri"/>
              </a:defRPr>
            </a:pPr>
            <a:r>
              <a:t>OFFICIAL 2025/2026 B.SC. FINAL PROJECT DEFENSE</a:t>
            </a:r>
          </a:p>
        </p:txBody>
      </p:sp>
      <p:sp>
        <p:nvSpPr>
          <p:cNvPr id="3" name="TextBox 2"/>
          <p:cNvSpPr txBox="1"/>
          <p:nvPr/>
        </p:nvSpPr>
        <p:spPr>
          <a:xfrm>
            <a:off x="731520" y="1097280"/>
            <a:ext cx="10728655" cy="2011680"/>
          </a:xfrm>
          <a:prstGeom prst="rect">
            <a:avLst/>
          </a:prstGeom>
          <a:noFill/>
        </p:spPr>
        <p:txBody>
          <a:bodyPr wrap="square" lIns="0" tIns="0" rIns="0" bIns="0">
            <a:spAutoFit/>
          </a:bodyPr>
          <a:lstStyle/>
          <a:p>
            <a:pPr>
              <a:spcAft>
                <a:spcPts val="600"/>
              </a:spcAft>
              <a:defRPr sz="2600" b="1">
                <a:solidFill>
                  <a:srgbClr val="FFFFFF"/>
                </a:solidFill>
                <a:latin typeface="Calibri"/>
              </a:defRPr>
            </a:pPr>
            <a:r>
              <a:t>DESIGN AND IMPLEMENTATION OF A DISTRIBUTED STUDENT RESULT MANAGEMENT SYSTEM</a:t>
            </a:r>
          </a:p>
          <a:p>
            <a:pPr>
              <a:defRPr sz="1800">
                <a:solidFill>
                  <a:srgbClr val="38BDF8"/>
                </a:solidFill>
                <a:latin typeface="Calibri"/>
              </a:defRPr>
            </a:pPr>
            <a:r>
              <a:t>For Staff, Students and Departments of a Tertiary Institution</a:t>
            </a:r>
          </a:p>
        </p:txBody>
      </p:sp>
      <p:sp>
        <p:nvSpPr>
          <p:cNvPr id="4" name="Rounded Rectangle 3"/>
          <p:cNvSpPr/>
          <p:nvPr/>
        </p:nvSpPr>
        <p:spPr>
          <a:xfrm>
            <a:off x="731520" y="3383280"/>
            <a:ext cx="512064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74320" tIns="274320" wrap="square"/>
          <a:lstStyle/>
          <a:p>
            <a:pPr algn="ctr">
              <a:spcAft>
                <a:spcPts val="1000"/>
              </a:spcAft>
              <a:defRPr sz="1200" b="1">
                <a:solidFill>
                  <a:srgbClr val="38BDF8"/>
                </a:solidFill>
                <a:latin typeface="Calibri"/>
              </a:defRPr>
            </a:pPr>
            <a:r>
              <a:t>ACADEMIC DEPARTMENT &amp; SUPERVISION</a:t>
            </a:r>
          </a:p>
          <a:p>
            <a:pPr>
              <a:spcAft>
                <a:spcPts val="400"/>
              </a:spcAft>
              <a:defRPr sz="1100">
                <a:solidFill>
                  <a:srgbClr val="FFFFFF"/>
                </a:solidFill>
                <a:latin typeface="Calibri"/>
              </a:defRPr>
            </a:pPr>
            <a:r>
              <a:t>Institution: University of Nigeria, Nsukka (UNN)</a:t>
            </a:r>
          </a:p>
          <a:p>
            <a:pPr>
              <a:spcAft>
                <a:spcPts val="400"/>
              </a:spcAft>
              <a:defRPr sz="1100">
                <a:solidFill>
                  <a:srgbClr val="FFFFFF"/>
                </a:solidFill>
                <a:latin typeface="Calibri"/>
              </a:defRPr>
            </a:pPr>
            <a:r>
              <a:t>Faculty: Faculty of Physical Sciences</a:t>
            </a:r>
          </a:p>
          <a:p>
            <a:pPr>
              <a:spcAft>
                <a:spcPts val="400"/>
              </a:spcAft>
              <a:defRPr sz="1100">
                <a:solidFill>
                  <a:srgbClr val="FFFFFF"/>
                </a:solidFill>
                <a:latin typeface="Calibri"/>
              </a:defRPr>
            </a:pPr>
            <a:r>
              <a:t>Department: Department of Computer Science</a:t>
            </a:r>
          </a:p>
          <a:p>
            <a:pPr>
              <a:spcAft>
                <a:spcPts val="400"/>
              </a:spcAft>
              <a:defRPr sz="1100">
                <a:solidFill>
                  <a:srgbClr val="FFFFFF"/>
                </a:solidFill>
                <a:latin typeface="Calibri"/>
              </a:defRPr>
            </a:pPr>
            <a:r>
              <a:t>Supervisor: Mr. S.B. Ponsak</a:t>
            </a:r>
          </a:p>
          <a:p>
            <a:pPr>
              <a:spcAft>
                <a:spcPts val="400"/>
              </a:spcAft>
              <a:defRPr sz="1100">
                <a:solidFill>
                  <a:srgbClr val="FFFFFF"/>
                </a:solidFill>
                <a:latin typeface="Calibri"/>
              </a:defRPr>
            </a:pPr>
            <a:r>
              <a:t>Coordinator: Dr. Anichebe G.E.</a:t>
            </a:r>
          </a:p>
          <a:p>
            <a:pPr>
              <a:spcAft>
                <a:spcPts val="400"/>
              </a:spcAft>
              <a:defRPr sz="1100">
                <a:solidFill>
                  <a:srgbClr val="FFFFFF"/>
                </a:solidFill>
                <a:latin typeface="Calibri"/>
              </a:defRPr>
            </a:pPr>
            <a:r>
              <a:t>Session / Date: 2025/2026 Session | October 2026</a:t>
            </a:r>
          </a:p>
        </p:txBody>
      </p:sp>
      <p:sp>
        <p:nvSpPr>
          <p:cNvPr id="5" name="Rounded Rectangle 4"/>
          <p:cNvSpPr/>
          <p:nvPr/>
        </p:nvSpPr>
        <p:spPr>
          <a:xfrm>
            <a:off x="6309360" y="3383280"/>
            <a:ext cx="512064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74320" tIns="274320" wrap="square"/>
          <a:lstStyle/>
          <a:p>
            <a:pPr algn="ctr">
              <a:spcAft>
                <a:spcPts val="1000"/>
              </a:spcAft>
              <a:defRPr sz="1200" b="1">
                <a:solidFill>
                  <a:srgbClr val="38BDF8"/>
                </a:solidFill>
                <a:latin typeface="Calibri"/>
              </a:defRPr>
            </a:pPr>
            <a:r>
              <a:t>PROJECT GROUP MEMBERS &amp; INDIVIDUAL DEFENSE ROLES</a:t>
            </a:r>
          </a:p>
          <a:p>
            <a:pPr>
              <a:defRPr sz="1200" b="1">
                <a:solidFill>
                  <a:srgbClr val="FFFFFF"/>
                </a:solidFill>
                <a:latin typeface="Calibri"/>
              </a:defRPr>
            </a:pPr>
            <a:r>
              <a:t>1. UDE JUSTINE ONYEDIKA</a:t>
            </a:r>
          </a:p>
          <a:p>
            <a:pPr>
              <a:spcAft>
                <a:spcPts val="600"/>
              </a:spcAft>
              <a:defRPr sz="1000">
                <a:solidFill>
                  <a:srgbClr val="38BDF8"/>
                </a:solidFill>
                <a:latin typeface="Calibri"/>
              </a:defRPr>
            </a:pPr>
            <a:r>
              <a:t>   Reg No: 2022/244096  |  Member 1: Database Design &amp; Form Population</a:t>
            </a:r>
          </a:p>
          <a:p>
            <a:pPr>
              <a:defRPr sz="1200" b="1">
                <a:solidFill>
                  <a:srgbClr val="FFFFFF"/>
                </a:solidFill>
                <a:latin typeface="Calibri"/>
              </a:defRPr>
            </a:pPr>
            <a:r>
              <a:t>2. UDEBUANI DANIEL UCHECHUKWU</a:t>
            </a:r>
          </a:p>
          <a:p>
            <a:pPr>
              <a:spcAft>
                <a:spcPts val="600"/>
              </a:spcAft>
              <a:defRPr sz="1000">
                <a:solidFill>
                  <a:srgbClr val="38BDF8"/>
                </a:solidFill>
                <a:latin typeface="Calibri"/>
              </a:defRPr>
            </a:pPr>
            <a:r>
              <a:t>   Reg No: 2022/249081  |  Member 2: Demonstration of Stated Objectives</a:t>
            </a:r>
          </a:p>
          <a:p>
            <a:pPr>
              <a:defRPr sz="1200" b="1">
                <a:solidFill>
                  <a:srgbClr val="FFFFFF"/>
                </a:solidFill>
                <a:latin typeface="Calibri"/>
              </a:defRPr>
            </a:pPr>
            <a:r>
              <a:t>3. UDEBUANI SOMTO SIXTUS</a:t>
            </a:r>
          </a:p>
          <a:p>
            <a:pPr>
              <a:spcAft>
                <a:spcPts val="600"/>
              </a:spcAft>
              <a:defRPr sz="1000">
                <a:solidFill>
                  <a:srgbClr val="38BDF8"/>
                </a:solidFill>
                <a:latin typeface="Calibri"/>
              </a:defRPr>
            </a:pPr>
            <a:r>
              <a:t>   Reg No: 2022/246656  |  Member 3: Unit &amp; Integrated Code Modules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38BDF8"/>
                </a:solidFill>
                <a:latin typeface="Calibri"/>
              </a:defRPr>
            </a:pPr>
            <a:r>
              <a:t>PART A.1: DEFENSE GUIDELINES ORDER</a:t>
            </a:r>
          </a:p>
          <a:p>
            <a:pPr>
              <a:defRPr sz="2200" b="1">
                <a:solidFill>
                  <a:srgbClr val="0F172A"/>
                </a:solidFill>
                <a:latin typeface="Calibri"/>
              </a:defRPr>
            </a:pPr>
            <a:r>
              <a:t>Abstract of the Study</a:t>
            </a:r>
          </a:p>
        </p:txBody>
      </p:sp>
      <p:sp>
        <p:nvSpPr>
          <p:cNvPr id="3" name="Rounded Rectangle 2"/>
          <p:cNvSpPr/>
          <p:nvPr/>
        </p:nvSpPr>
        <p:spPr>
          <a:xfrm>
            <a:off x="731520" y="1280160"/>
            <a:ext cx="10728655"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rIns="365760" tIns="274320" wrap="square"/>
          <a:lstStyle/>
          <a:p>
            <a:pPr algn="ctr">
              <a:spcAft>
                <a:spcPts val="800"/>
              </a:spcAft>
            </a:pPr>
            <a:r>
              <a:rPr sz="1100" b="1">
                <a:solidFill>
                  <a:srgbClr val="2563EB"/>
                </a:solidFill>
                <a:latin typeface="Calibri"/>
              </a:rPr>
              <a:t>Context &amp; Problem: </a:t>
            </a:r>
            <a:r>
              <a:rPr sz="1100">
                <a:solidFill>
                  <a:srgbClr val="334155"/>
                </a:solidFill>
                <a:latin typeface="Calibri"/>
              </a:rPr>
              <a:t>The traditional management of student examination results in Nigerian tertiary institutions is plagued by persistent operational bottlenecks. Manual record entry, physical broadsheet movement, and siloed departmental databases frequently cause computation errors, delayed result distribution, and lost grade records, particularly for inter-departmental service courses taken across multiple beneficiary departments.</a:t>
            </a:r>
          </a:p>
          <a:p>
            <a:pPr>
              <a:spcAft>
                <a:spcPts val="800"/>
              </a:spcAft>
            </a:pPr>
            <a:r>
              <a:rPr sz="1100" b="1">
                <a:solidFill>
                  <a:srgbClr val="2563EB"/>
                </a:solidFill>
                <a:latin typeface="Calibri"/>
              </a:rPr>
              <a:t>Proposed Solution: </a:t>
            </a:r>
            <a:r>
              <a:rPr sz="1100">
                <a:solidFill>
                  <a:srgbClr val="334155"/>
                </a:solidFill>
                <a:latin typeface="Calibri"/>
              </a:rPr>
              <a:t>This project presents the design and implementation of a modern, Distributed Student Result Management System specifically tailored for tertiary institutions conforming to the National Universities Commission (NUC) benchmark. The system eliminates manual distribution by providing an automated, role-based architecture serving Course Lecturers, offering Heads of Department, beneficiary receiving HODs, Departmental Examination Officers, and Students.</a:t>
            </a:r>
          </a:p>
          <a:p>
            <a:pPr>
              <a:spcAft>
                <a:spcPts val="800"/>
              </a:spcAft>
            </a:pPr>
            <a:r>
              <a:rPr sz="1100" b="1">
                <a:solidFill>
                  <a:srgbClr val="2563EB"/>
                </a:solidFill>
                <a:latin typeface="Calibri"/>
              </a:rPr>
              <a:t>Technical Implementation: </a:t>
            </a:r>
            <a:r>
              <a:rPr sz="1100">
                <a:solidFill>
                  <a:srgbClr val="334155"/>
                </a:solidFill>
                <a:latin typeface="Calibri"/>
              </a:rPr>
              <a:t>The system was engineered using a cloud-distributed PostgreSQL database hosted on Supabase comprising 12 normalized relational entities. The application tier is implemented using Next.js 14 and React with server-side validation, SheetJS client-side Excel batch parsing, dynamic weighted CGPA calculation, cryptographic session-scoped role access, and a transparent four-stage grade rectification workflow.</a:t>
            </a:r>
          </a:p>
          <a:p>
            <a:pPr>
              <a:spcAft>
                <a:spcPts val="800"/>
              </a:spcAft>
            </a:pPr>
            <a:r>
              <a:rPr sz="1100" b="1">
                <a:solidFill>
                  <a:srgbClr val="2563EB"/>
                </a:solidFill>
                <a:latin typeface="Calibri"/>
              </a:rPr>
              <a:t>Results &amp; Evaluation: </a:t>
            </a:r>
            <a:r>
              <a:rPr sz="1100">
                <a:solidFill>
                  <a:srgbClr val="334155"/>
                </a:solidFill>
                <a:latin typeface="Calibri"/>
              </a:rPr>
              <a:t>Empirical verification on active 2025/2026 academic cohorts confirmed 100% computational fidelity against NUC 5-point benchmark standards, zero inter-departmental broadsheet transit delays, automated multi-department distribution acknowledgement, and instantaneous grade dispute resolution with an immutable audit trail. The system offers an institutional-grade solution that transforms result administration in universities.</a:t>
            </a:r>
          </a:p>
          <a:p>
            <a:pPr>
              <a:spcAft>
                <a:spcPts val="800"/>
              </a:spcAft>
            </a:pPr>
            <a:r>
              <a:rPr sz="1100" b="1">
                <a:solidFill>
                  <a:srgbClr val="16A34A"/>
                </a:solidFill>
                <a:latin typeface="Calibri"/>
              </a:rPr>
              <a:t>Keywords: </a:t>
            </a:r>
            <a:r>
              <a:rPr sz="1100">
                <a:solidFill>
                  <a:srgbClr val="334155"/>
                </a:solidFill>
                <a:latin typeface="Calibri"/>
              </a:rPr>
              <a:t>Distributed Results, Inter-Departmental Distribution, NUC 5.0 CGPA Computation, SheetJS Parser, Grade Rectification Pipeline, Supabase PostgreSQL, UNN.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38BDF8"/>
                </a:solidFill>
                <a:latin typeface="Calibri"/>
              </a:defRPr>
            </a:pPr>
            <a:r>
              <a:t>PART A.2: DEFENSE GUIDELINES ORDER</a:t>
            </a:r>
          </a:p>
          <a:p>
            <a:pPr>
              <a:defRPr sz="2200" b="1">
                <a:solidFill>
                  <a:srgbClr val="0F172A"/>
                </a:solidFill>
                <a:latin typeface="Calibri"/>
              </a:defRPr>
            </a:pPr>
            <a:r>
              <a:t>Aim and Specific Objectives of the Study</a:t>
            </a:r>
          </a:p>
        </p:txBody>
      </p:sp>
      <p:sp>
        <p:nvSpPr>
          <p:cNvPr id="3" name="Rounded Rectangle 2"/>
          <p:cNvSpPr/>
          <p:nvPr/>
        </p:nvSpPr>
        <p:spPr>
          <a:xfrm>
            <a:off x="731520" y="1234440"/>
            <a:ext cx="10728655" cy="6858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defRPr sz="1200" b="1">
                <a:solidFill>
                  <a:srgbClr val="1E3A8A"/>
                </a:solidFill>
                <a:latin typeface="Calibri"/>
              </a:defRPr>
            </a:pPr>
            <a:r>
              <a:t>RESEARCH AIM: To design, develop, and implement an automated, secure, and distributed student result management system that streamlines inter-departmental broadsheet distribution, automates NUC 5.0 CGPA computation, and provides transparent multi-tier grade dispute rectification.</a:t>
            </a:r>
          </a:p>
        </p:txBody>
      </p:sp>
      <p:sp>
        <p:nvSpPr>
          <p:cNvPr id="4" name="Rounded Rectangle 3"/>
          <p:cNvSpPr/>
          <p:nvPr/>
        </p:nvSpPr>
        <p:spPr>
          <a:xfrm>
            <a:off x="731520" y="205740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wrap="square"/>
          <a:lstStyle/>
          <a:p>
            <a:pPr algn="ctr">
              <a:spcAft>
                <a:spcPts val="200"/>
              </a:spcAft>
              <a:defRPr sz="1300" b="1">
                <a:solidFill>
                  <a:srgbClr val="2563EB"/>
                </a:solidFill>
                <a:latin typeface="Calibri"/>
              </a:defRPr>
            </a:pPr>
            <a:r>
              <a:t>OBJECTIVE 1 — Role-Based Access Control (RBAC)</a:t>
            </a:r>
          </a:p>
          <a:p>
            <a:pPr>
              <a:defRPr sz="1100">
                <a:solidFill>
                  <a:srgbClr val="334155"/>
                </a:solidFill>
                <a:latin typeface="Calibri"/>
              </a:defRPr>
            </a:pPr>
            <a:r>
              <a:t>To design and implement a secure, multi-tier authentication mechanism with cryptographic authorization for Course Lecturers, offering HODs, receiving HODs, Exam Officers, and Students.</a:t>
            </a:r>
          </a:p>
        </p:txBody>
      </p:sp>
      <p:sp>
        <p:nvSpPr>
          <p:cNvPr id="5" name="Rectangle 4"/>
          <p:cNvSpPr/>
          <p:nvPr/>
        </p:nvSpPr>
        <p:spPr>
          <a:xfrm>
            <a:off x="731520" y="2057400"/>
            <a:ext cx="164592" cy="8412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97180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wrap="square"/>
          <a:lstStyle/>
          <a:p>
            <a:pPr algn="ctr">
              <a:spcAft>
                <a:spcPts val="200"/>
              </a:spcAft>
              <a:defRPr sz="1300" b="1">
                <a:solidFill>
                  <a:srgbClr val="16A34A"/>
                </a:solidFill>
                <a:latin typeface="Calibri"/>
              </a:defRPr>
            </a:pPr>
            <a:r>
              <a:t>OBJECTIVE 2 — Automated Excel Ingestion &amp; Validation</a:t>
            </a:r>
          </a:p>
          <a:p>
            <a:pPr>
              <a:defRPr sz="1100">
                <a:solidFill>
                  <a:srgbClr val="334155"/>
                </a:solidFill>
                <a:latin typeface="Calibri"/>
              </a:defRPr>
            </a:pPr>
            <a:r>
              <a:t>To develop a client-side Excel batch upload and auto-validation engine using SheetJS to eliminate manual score transcription errors and enforce CA (0-30) and Exam (0-70) boundaries.</a:t>
            </a:r>
          </a:p>
        </p:txBody>
      </p:sp>
      <p:sp>
        <p:nvSpPr>
          <p:cNvPr id="7" name="Rectangle 6"/>
          <p:cNvSpPr/>
          <p:nvPr/>
        </p:nvSpPr>
        <p:spPr>
          <a:xfrm>
            <a:off x="731520" y="2971800"/>
            <a:ext cx="164592" cy="8412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88620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wrap="square"/>
          <a:lstStyle/>
          <a:p>
            <a:pPr algn="ctr">
              <a:spcAft>
                <a:spcPts val="200"/>
              </a:spcAft>
              <a:defRPr sz="1300" b="1">
                <a:solidFill>
                  <a:srgbClr val="D97706"/>
                </a:solidFill>
                <a:latin typeface="Calibri"/>
              </a:defRPr>
            </a:pPr>
            <a:r>
              <a:t>OBJECTIVE 3 — Inter-Departmental Broadsheet Distribution</a:t>
            </a:r>
          </a:p>
          <a:p>
            <a:pPr>
              <a:defRPr sz="1100">
                <a:solidFill>
                  <a:srgbClr val="334155"/>
                </a:solidFill>
                <a:latin typeface="Calibri"/>
              </a:defRPr>
            </a:pPr>
            <a:r>
              <a:t>To formulate and implement a distributed inter-departmental distribution workflow enabling offering departments to dispatch verified service course broadsheets to beneficiary HODs with digital acknowledgement receipts.</a:t>
            </a:r>
          </a:p>
        </p:txBody>
      </p:sp>
      <p:sp>
        <p:nvSpPr>
          <p:cNvPr id="9" name="Rectangle 8"/>
          <p:cNvSpPr/>
          <p:nvPr/>
        </p:nvSpPr>
        <p:spPr>
          <a:xfrm>
            <a:off x="731520" y="3886200"/>
            <a:ext cx="164592"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80060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wrap="square"/>
          <a:lstStyle/>
          <a:p>
            <a:pPr algn="ctr">
              <a:spcAft>
                <a:spcPts val="200"/>
              </a:spcAft>
              <a:defRPr sz="1300" b="1">
                <a:solidFill>
                  <a:srgbClr val="7C3AED"/>
                </a:solidFill>
                <a:latin typeface="Calibri"/>
              </a:defRPr>
            </a:pPr>
            <a:r>
              <a:t>OBJECTIVE 4 — NUC 5.0 Standard CGPA Computation</a:t>
            </a:r>
          </a:p>
          <a:p>
            <a:pPr>
              <a:defRPr sz="1100">
                <a:solidFill>
                  <a:srgbClr val="334155"/>
                </a:solidFill>
                <a:latin typeface="Calibri"/>
              </a:defRPr>
            </a:pPr>
            <a:r>
              <a:t>To develop an automated mathematical computation engine strictly conforming to NUC 5.0 benchmarks, calculating Total Credit Units (TCU), Total Quality Points (TQP), and real-time degree classifications.</a:t>
            </a:r>
          </a:p>
        </p:txBody>
      </p:sp>
      <p:sp>
        <p:nvSpPr>
          <p:cNvPr id="11" name="Rectangle 10"/>
          <p:cNvSpPr/>
          <p:nvPr/>
        </p:nvSpPr>
        <p:spPr>
          <a:xfrm>
            <a:off x="731520" y="4800600"/>
            <a:ext cx="164592" cy="8412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571500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109728" wrap="square"/>
          <a:lstStyle/>
          <a:p>
            <a:pPr algn="ctr">
              <a:spcAft>
                <a:spcPts val="200"/>
              </a:spcAft>
              <a:defRPr sz="1300" b="1">
                <a:solidFill>
                  <a:srgbClr val="E11D48"/>
                </a:solidFill>
                <a:latin typeface="Calibri"/>
              </a:defRPr>
            </a:pPr>
            <a:r>
              <a:t>OBJECTIVE 5 — Transparent Grade Dispute Rectification</a:t>
            </a:r>
          </a:p>
          <a:p>
            <a:pPr>
              <a:defRPr sz="1100">
                <a:solidFill>
                  <a:srgbClr val="334155"/>
                </a:solidFill>
                <a:latin typeface="Calibri"/>
              </a:defRPr>
            </a:pPr>
            <a:r>
              <a:t>To establish a closed-loop grade dispute management system that enables students to lodge rectification tickets and routes them through Lecturer audit, HOD endorsement, and Exam Officer final synchronization.</a:t>
            </a:r>
          </a:p>
        </p:txBody>
      </p:sp>
      <p:sp>
        <p:nvSpPr>
          <p:cNvPr id="13" name="Rectangle 12"/>
          <p:cNvSpPr/>
          <p:nvPr/>
        </p:nvSpPr>
        <p:spPr>
          <a:xfrm>
            <a:off x="731520" y="5715000"/>
            <a:ext cx="164592" cy="841248"/>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38BDF8"/>
                </a:solidFill>
                <a:latin typeface="Calibri"/>
              </a:defRPr>
            </a:pPr>
            <a:r>
              <a:t>PART A.3: DEFENSE GUIDELINES ORDER</a:t>
            </a:r>
          </a:p>
          <a:p>
            <a:pPr>
              <a:defRPr sz="2200" b="1">
                <a:solidFill>
                  <a:srgbClr val="0F172A"/>
                </a:solidFill>
                <a:latin typeface="Calibri"/>
              </a:defRPr>
            </a:pPr>
            <a:r>
              <a:t>Level-1 Data Flow Diagram (DFD) of the System</a:t>
            </a:r>
          </a:p>
        </p:txBody>
      </p:sp>
      <p:pic>
        <p:nvPicPr>
          <p:cNvPr id="3" name="Picture 2" descr="Figure_Level_1_DFD.png"/>
          <p:cNvPicPr>
            <a:picLocks noChangeAspect="1"/>
          </p:cNvPicPr>
          <p:nvPr/>
        </p:nvPicPr>
        <p:blipFill>
          <a:blip r:embed="rId2"/>
          <a:stretch>
            <a:fillRect/>
          </a:stretch>
        </p:blipFill>
        <p:spPr>
          <a:xfrm>
            <a:off x="731520" y="1234440"/>
            <a:ext cx="10728655" cy="51206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38BDF8"/>
                </a:solidFill>
                <a:latin typeface="Calibri"/>
              </a:defRPr>
            </a:pPr>
            <a:r>
              <a:t>PART A.4: DEFENSE GUIDELINES ORDER (ZERO-SCREENSHOT COMPLIANT)</a:t>
            </a:r>
          </a:p>
          <a:p>
            <a:pPr>
              <a:defRPr sz="2200" b="1">
                <a:solidFill>
                  <a:srgbClr val="0F172A"/>
                </a:solidFill>
                <a:latin typeface="Calibri"/>
              </a:defRPr>
            </a:pPr>
            <a:r>
              <a:t>Sample of Input Designs (System Architectural Wireframes)</a:t>
            </a:r>
          </a:p>
        </p:txBody>
      </p:sp>
      <p:pic>
        <p:nvPicPr>
          <p:cNvPr id="3" name="Picture 2" descr="Sample_Input_Designs.png"/>
          <p:cNvPicPr>
            <a:picLocks noChangeAspect="1"/>
          </p:cNvPicPr>
          <p:nvPr/>
        </p:nvPicPr>
        <p:blipFill>
          <a:blip r:embed="rId2"/>
          <a:stretch>
            <a:fillRect/>
          </a:stretch>
        </p:blipFill>
        <p:spPr>
          <a:xfrm>
            <a:off x="731520" y="1234440"/>
            <a:ext cx="10728655" cy="51206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38BDF8"/>
                </a:solidFill>
                <a:latin typeface="Calibri"/>
              </a:defRPr>
            </a:pPr>
            <a:r>
              <a:t>PART A.4: DEFENSE GUIDELINES ORDER (ZERO-SCREENSHOT COMPLIANT)</a:t>
            </a:r>
          </a:p>
          <a:p>
            <a:pPr>
              <a:defRPr sz="2200" b="1">
                <a:solidFill>
                  <a:srgbClr val="0F172A"/>
                </a:solidFill>
                <a:latin typeface="Calibri"/>
              </a:defRPr>
            </a:pPr>
            <a:r>
              <a:t>Sample of Output Designs (System Architectural Wireframes)</a:t>
            </a:r>
          </a:p>
        </p:txBody>
      </p:sp>
      <p:pic>
        <p:nvPicPr>
          <p:cNvPr id="3" name="Picture 2" descr="Sample_Output_Designs.png"/>
          <p:cNvPicPr>
            <a:picLocks noChangeAspect="1"/>
          </p:cNvPicPr>
          <p:nvPr/>
        </p:nvPicPr>
        <p:blipFill>
          <a:blip r:embed="rId2"/>
          <a:stretch>
            <a:fillRect/>
          </a:stretch>
        </p:blipFill>
        <p:spPr>
          <a:xfrm>
            <a:off x="731520" y="1234440"/>
            <a:ext cx="10728655" cy="5120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8655" cy="914400"/>
          </a:xfrm>
          <a:prstGeom prst="rect">
            <a:avLst/>
          </a:prstGeom>
          <a:noFill/>
        </p:spPr>
        <p:txBody>
          <a:bodyPr wrap="square" lIns="0" tIns="0">
            <a:spAutoFit/>
          </a:bodyPr>
          <a:lstStyle/>
          <a:p>
            <a:pPr>
              <a:spcAft>
                <a:spcPts val="200"/>
              </a:spcAft>
              <a:defRPr sz="1100" b="1">
                <a:solidFill>
                  <a:srgbClr val="38BDF8"/>
                </a:solidFill>
                <a:latin typeface="Calibri"/>
              </a:defRPr>
            </a:pPr>
            <a:r>
              <a:t>PART B: RUNNING OF SOURCE CODE &amp; PRACTICAL DEMONSTRATION (10 MINUTES)</a:t>
            </a:r>
          </a:p>
          <a:p>
            <a:pPr>
              <a:defRPr sz="2200" b="1">
                <a:solidFill>
                  <a:srgbClr val="FFFFFF"/>
                </a:solidFill>
                <a:latin typeface="Calibri"/>
              </a:defRPr>
            </a:pPr>
            <a:r>
              <a:t>Individual Demonstration Schedule &amp; Defense Roles</a:t>
            </a:r>
          </a:p>
        </p:txBody>
      </p:sp>
      <p:sp>
        <p:nvSpPr>
          <p:cNvPr id="3" name="Rounded Rectangle 2"/>
          <p:cNvSpPr/>
          <p:nvPr/>
        </p:nvSpPr>
        <p:spPr>
          <a:xfrm>
            <a:off x="731520" y="1645920"/>
            <a:ext cx="3383280" cy="4663440"/>
          </a:xfrm>
          <a:prstGeom prst="round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wrap="square"/>
          <a:lstStyle/>
          <a:p>
            <a:pPr algn="ctr">
              <a:spcAft>
                <a:spcPts val="200"/>
              </a:spcAft>
              <a:defRPr sz="1100" b="1">
                <a:solidFill>
                  <a:srgbClr val="2563EB"/>
                </a:solidFill>
                <a:latin typeface="Calibri"/>
              </a:defRPr>
            </a:pPr>
            <a:r>
              <a:t>MEMBER 1</a:t>
            </a:r>
          </a:p>
          <a:p>
            <a:pPr>
              <a:defRPr sz="1400" b="1">
                <a:solidFill>
                  <a:srgbClr val="FFFFFF"/>
                </a:solidFill>
                <a:latin typeface="Calibri"/>
              </a:defRPr>
            </a:pPr>
            <a:r>
              <a:t>Ude Justine Onyedika</a:t>
            </a:r>
          </a:p>
          <a:p>
            <a:pPr>
              <a:spcAft>
                <a:spcPts val="1200"/>
              </a:spcAft>
              <a:defRPr sz="1100">
                <a:solidFill>
                  <a:srgbClr val="94A3B8"/>
                </a:solidFill>
                <a:latin typeface="Calibri"/>
              </a:defRPr>
            </a:pPr>
            <a:r>
              <a:t>Reg No: 2022/244096</a:t>
            </a:r>
          </a:p>
          <a:p>
            <a:pPr>
              <a:spcAft>
                <a:spcPts val="800"/>
              </a:spcAft>
            </a:pPr>
            <a:r>
              <a:rPr sz="1100" b="1">
                <a:solidFill>
                  <a:srgbClr val="38BDF8"/>
                </a:solidFill>
                <a:latin typeface="Calibri"/>
              </a:rPr>
              <a:t>Task (i): Database Schema Agreement
</a:t>
            </a:r>
            <a:r>
              <a:rPr sz="1000">
                <a:solidFill>
                  <a:srgbClr val="FFFFFF"/>
                </a:solidFill>
                <a:latin typeface="Calibri"/>
              </a:rPr>
              <a:t>Demonstrate how the 12 normalized PostgreSQL tables on Supabase match Table 3.5.1 database specifications in Chapter 3.</a:t>
            </a:r>
          </a:p>
          <a:p>
            <a:pPr>
              <a:spcAft>
                <a:spcPts val="800"/>
              </a:spcAft>
            </a:pPr>
            <a:r>
              <a:rPr sz="1100" b="1">
                <a:solidFill>
                  <a:srgbClr val="38BDF8"/>
                </a:solidFill>
                <a:latin typeface="Calibri"/>
              </a:rPr>
              <a:t>Task (ii): Form Data Population
</a:t>
            </a:r>
            <a:r>
              <a:rPr sz="1000">
                <a:solidFill>
                  <a:srgbClr val="FFFFFF"/>
                </a:solidFill>
                <a:latin typeface="Calibri"/>
              </a:rPr>
              <a:t>Demonstrate how live input forms populate database tables (students, courses, ca_scores, exam_scores, enrollments).</a:t>
            </a:r>
          </a:p>
        </p:txBody>
      </p:sp>
      <p:sp>
        <p:nvSpPr>
          <p:cNvPr id="4" name="Rounded Rectangle 3"/>
          <p:cNvSpPr/>
          <p:nvPr/>
        </p:nvSpPr>
        <p:spPr>
          <a:xfrm>
            <a:off x="4389120" y="1645920"/>
            <a:ext cx="3383280" cy="4663440"/>
          </a:xfrm>
          <a:prstGeom prst="roundRect">
            <a:avLst/>
          </a:prstGeom>
          <a:solidFill>
            <a:srgbClr val="1E293B"/>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wrap="square"/>
          <a:lstStyle/>
          <a:p>
            <a:pPr algn="ctr">
              <a:spcAft>
                <a:spcPts val="200"/>
              </a:spcAft>
              <a:defRPr sz="1100" b="1">
                <a:solidFill>
                  <a:srgbClr val="16A34A"/>
                </a:solidFill>
                <a:latin typeface="Calibri"/>
              </a:defRPr>
            </a:pPr>
            <a:r>
              <a:t>MEMBER 2 (LEAD DEMO)</a:t>
            </a:r>
          </a:p>
          <a:p>
            <a:pPr>
              <a:defRPr sz="1400" b="1">
                <a:solidFill>
                  <a:srgbClr val="FFFFFF"/>
                </a:solidFill>
                <a:latin typeface="Calibri"/>
              </a:defRPr>
            </a:pPr>
            <a:r>
              <a:t>Udebuani Daniel U.</a:t>
            </a:r>
          </a:p>
          <a:p>
            <a:pPr>
              <a:spcAft>
                <a:spcPts val="1200"/>
              </a:spcAft>
              <a:defRPr sz="1100">
                <a:solidFill>
                  <a:srgbClr val="94A3B8"/>
                </a:solidFill>
                <a:latin typeface="Calibri"/>
              </a:defRPr>
            </a:pPr>
            <a:r>
              <a:t>Reg No: 2022/249081</a:t>
            </a:r>
          </a:p>
          <a:p>
            <a:pPr>
              <a:spcAft>
                <a:spcPts val="800"/>
              </a:spcAft>
            </a:pPr>
            <a:r>
              <a:rPr sz="1100" b="1">
                <a:solidFill>
                  <a:srgbClr val="38BDF8"/>
                </a:solidFill>
                <a:latin typeface="Calibri"/>
              </a:rPr>
              <a:t>Demonstration of Stated Objectives
</a:t>
            </a:r>
            <a:r>
              <a:rPr sz="1000">
                <a:solidFill>
                  <a:srgbClr val="FFFFFF"/>
                </a:solidFill>
                <a:latin typeface="Calibri"/>
              </a:rPr>
              <a:t>Live software tour showing how all 5 research objectives are achieved:</a:t>
            </a:r>
          </a:p>
          <a:p>
            <a:pPr>
              <a:spcAft>
                <a:spcPts val="800"/>
              </a:spcAft>
            </a:pPr>
            <a:r>
              <a:rPr sz="1100" b="1">
                <a:solidFill>
                  <a:srgbClr val="38BDF8"/>
                </a:solidFill>
                <a:latin typeface="Calibri"/>
              </a:rPr>
              <a:t>• Obj 1: RBAC Login
</a:t>
            </a:r>
            <a:r>
              <a:rPr sz="1000">
                <a:solidFill>
                  <a:srgbClr val="FFFFFF"/>
                </a:solidFill>
                <a:latin typeface="Calibri"/>
              </a:rPr>
              <a:t>Course Lecturer vs HOD vs Exam Officer vs Student.</a:t>
            </a:r>
          </a:p>
          <a:p>
            <a:pPr>
              <a:spcAft>
                <a:spcPts val="800"/>
              </a:spcAft>
            </a:pPr>
            <a:r>
              <a:rPr sz="1100" b="1">
                <a:solidFill>
                  <a:srgbClr val="38BDF8"/>
                </a:solidFill>
                <a:latin typeface="Calibri"/>
              </a:rPr>
              <a:t>• Obj 2: Score Ingestion
</a:t>
            </a:r>
            <a:r>
              <a:rPr sz="1000">
                <a:solidFill>
                  <a:srgbClr val="FFFFFF"/>
                </a:solidFill>
                <a:latin typeface="Calibri"/>
              </a:rPr>
              <a:t>Upload Excel sheet with auto-validation.</a:t>
            </a:r>
          </a:p>
          <a:p>
            <a:pPr>
              <a:spcAft>
                <a:spcPts val="800"/>
              </a:spcAft>
            </a:pPr>
            <a:r>
              <a:rPr sz="1100" b="1">
                <a:solidFill>
                  <a:srgbClr val="38BDF8"/>
                </a:solidFill>
                <a:latin typeface="Calibri"/>
              </a:rPr>
              <a:t>• Obj 3: Inter-Dept Distribution
</a:t>
            </a:r>
            <a:r>
              <a:rPr sz="1000">
                <a:solidFill>
                  <a:srgbClr val="FFFFFF"/>
                </a:solidFill>
                <a:latin typeface="Calibri"/>
              </a:rPr>
              <a:t>COS 101 dispatched to 5 departments for 2025/2026.</a:t>
            </a:r>
          </a:p>
          <a:p>
            <a:pPr>
              <a:spcAft>
                <a:spcPts val="800"/>
              </a:spcAft>
            </a:pPr>
            <a:r>
              <a:rPr sz="1100" b="1">
                <a:solidFill>
                  <a:srgbClr val="38BDF8"/>
                </a:solidFill>
                <a:latin typeface="Calibri"/>
              </a:rPr>
              <a:t>• Obj 4: CGPA Computation
</a:t>
            </a:r>
            <a:r>
              <a:rPr sz="1000">
                <a:solidFill>
                  <a:srgbClr val="FFFFFF"/>
                </a:solidFill>
                <a:latin typeface="Calibri"/>
              </a:rPr>
              <a:t>NUC 5.0 Result Slip &amp; Transcript.</a:t>
            </a:r>
          </a:p>
          <a:p>
            <a:pPr>
              <a:spcAft>
                <a:spcPts val="800"/>
              </a:spcAft>
            </a:pPr>
            <a:r>
              <a:rPr sz="1100" b="1">
                <a:solidFill>
                  <a:srgbClr val="38BDF8"/>
                </a:solidFill>
                <a:latin typeface="Calibri"/>
              </a:rPr>
              <a:t>• Obj 5: Grade Dispute
</a:t>
            </a:r>
            <a:r>
              <a:rPr sz="1000">
                <a:solidFill>
                  <a:srgbClr val="FFFFFF"/>
                </a:solidFill>
                <a:latin typeface="Calibri"/>
              </a:rPr>
              <a:t>Dispute lodging, approval, &amp; auto-recalculation.</a:t>
            </a:r>
          </a:p>
        </p:txBody>
      </p:sp>
      <p:sp>
        <p:nvSpPr>
          <p:cNvPr id="5" name="Rounded Rectangle 4"/>
          <p:cNvSpPr/>
          <p:nvPr/>
        </p:nvSpPr>
        <p:spPr>
          <a:xfrm>
            <a:off x="8046720" y="1645920"/>
            <a:ext cx="3383280" cy="4663440"/>
          </a:xfrm>
          <a:prstGeom prst="roundRect">
            <a:avLst/>
          </a:prstGeom>
          <a:solidFill>
            <a:srgbClr val="1E293B"/>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wrap="square"/>
          <a:lstStyle/>
          <a:p>
            <a:pPr algn="ctr">
              <a:spcAft>
                <a:spcPts val="200"/>
              </a:spcAft>
              <a:defRPr sz="1100" b="1">
                <a:solidFill>
                  <a:srgbClr val="7C3AED"/>
                </a:solidFill>
                <a:latin typeface="Calibri"/>
              </a:defRPr>
            </a:pPr>
            <a:r>
              <a:t>MEMBER 3</a:t>
            </a:r>
          </a:p>
          <a:p>
            <a:pPr>
              <a:defRPr sz="1400" b="1">
                <a:solidFill>
                  <a:srgbClr val="FFFFFF"/>
                </a:solidFill>
                <a:latin typeface="Calibri"/>
              </a:defRPr>
            </a:pPr>
            <a:r>
              <a:t>Udebuani Somto Sixtus</a:t>
            </a:r>
          </a:p>
          <a:p>
            <a:pPr>
              <a:spcAft>
                <a:spcPts val="1200"/>
              </a:spcAft>
              <a:defRPr sz="1100">
                <a:solidFill>
                  <a:srgbClr val="94A3B8"/>
                </a:solidFill>
                <a:latin typeface="Calibri"/>
              </a:defRPr>
            </a:pPr>
            <a:r>
              <a:t>Reg No: 2022/246656</a:t>
            </a:r>
          </a:p>
          <a:p>
            <a:pPr>
              <a:spcAft>
                <a:spcPts val="800"/>
              </a:spcAft>
            </a:pPr>
            <a:r>
              <a:rPr sz="1100" b="1">
                <a:solidFill>
                  <a:srgbClr val="38BDF8"/>
                </a:solidFill>
                <a:latin typeface="Calibri"/>
              </a:rPr>
              <a:t>Unit Modules &amp; Functions
</a:t>
            </a:r>
            <a:r>
              <a:rPr sz="1000">
                <a:solidFill>
                  <a:srgbClr val="FFFFFF"/>
                </a:solidFill>
                <a:latin typeface="Calibri"/>
              </a:rPr>
              <a:t>Explain core unit algorithms:</a:t>
            </a:r>
          </a:p>
          <a:p>
            <a:pPr>
              <a:spcAft>
                <a:spcPts val="800"/>
              </a:spcAft>
            </a:pPr>
            <a:r>
              <a:rPr sz="1100" b="1">
                <a:solidFill>
                  <a:srgbClr val="38BDF8"/>
                </a:solidFill>
                <a:latin typeface="Calibri"/>
              </a:rPr>
              <a:t>• calculateGrade(score)
</a:t>
            </a:r>
            <a:r>
              <a:rPr sz="1000">
                <a:solidFill>
                  <a:srgbClr val="FFFFFF"/>
                </a:solidFill>
                <a:latin typeface="Calibri"/>
              </a:rPr>
              <a:t>NUC 5.0 score-to-grade mapping logic.</a:t>
            </a:r>
          </a:p>
          <a:p>
            <a:pPr>
              <a:spcAft>
                <a:spcPts val="800"/>
              </a:spcAft>
            </a:pPr>
            <a:r>
              <a:rPr sz="1100" b="1">
                <a:solidFill>
                  <a:srgbClr val="38BDF8"/>
                </a:solidFill>
                <a:latin typeface="Calibri"/>
              </a:rPr>
              <a:t>• calculateCGPA(results)
</a:t>
            </a:r>
            <a:r>
              <a:rPr sz="1000">
                <a:solidFill>
                  <a:srgbClr val="FFFFFF"/>
                </a:solidFill>
                <a:latin typeface="Calibri"/>
              </a:rPr>
              <a:t>Weighted quality points summation engine.</a:t>
            </a:r>
          </a:p>
          <a:p>
            <a:pPr>
              <a:spcAft>
                <a:spcPts val="800"/>
              </a:spcAft>
            </a:pPr>
            <a:r>
              <a:rPr sz="1100" b="1">
                <a:solidFill>
                  <a:srgbClr val="38BDF8"/>
                </a:solidFill>
                <a:latin typeface="Calibri"/>
              </a:rPr>
              <a:t>Integrated Modules
</a:t>
            </a:r>
            <a:r>
              <a:rPr sz="1000">
                <a:solidFill>
                  <a:srgbClr val="FFFFFF"/>
                </a:solidFill>
                <a:latin typeface="Calibri"/>
              </a:rPr>
              <a:t>Explain system subsystems:</a:t>
            </a:r>
          </a:p>
          <a:p>
            <a:pPr>
              <a:spcAft>
                <a:spcPts val="800"/>
              </a:spcAft>
            </a:pPr>
            <a:r>
              <a:rPr sz="1100" b="1">
                <a:solidFill>
                  <a:srgbClr val="38BDF8"/>
                </a:solidFill>
                <a:latin typeface="Calibri"/>
              </a:rPr>
              <a:t>• createResultDistribution
</a:t>
            </a:r>
            <a:r>
              <a:rPr sz="1000">
                <a:solidFill>
                  <a:srgbClr val="FFFFFF"/>
                </a:solidFill>
                <a:latin typeface="Calibri"/>
              </a:rPr>
              <a:t>Active session scoping ('2025/26').</a:t>
            </a:r>
          </a:p>
          <a:p>
            <a:pPr>
              <a:spcAft>
                <a:spcPts val="800"/>
              </a:spcAft>
            </a:pPr>
            <a:r>
              <a:rPr sz="1100" b="1">
                <a:solidFill>
                  <a:srgbClr val="38BDF8"/>
                </a:solidFill>
                <a:latin typeface="Calibri"/>
              </a:rPr>
              <a:t>• examOfficerFinalizeRectification
</a:t>
            </a:r>
            <a:r>
              <a:rPr sz="1000">
                <a:solidFill>
                  <a:srgbClr val="FFFFFF"/>
                </a:solidFill>
                <a:latin typeface="Calibri"/>
              </a:rPr>
              <a:t>Cascade recalculation &amp; tamper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